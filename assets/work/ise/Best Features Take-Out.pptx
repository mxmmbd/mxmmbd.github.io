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13" r:id="rId4"/>
  </p:sldMasterIdLst>
  <p:notesMasterIdLst>
    <p:notesMasterId r:id="rId9"/>
  </p:notesMasterIdLst>
  <p:sldIdLst>
    <p:sldId id="396" r:id="rId5"/>
    <p:sldId id="397" r:id="rId6"/>
    <p:sldId id="404" r:id="rId7"/>
    <p:sldId id="393" r:id="rId8"/>
  </p:sldIdLst>
  <p:sldSz cx="12192000" cy="6858000"/>
  <p:notesSz cx="6797675" cy="9926638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9FFE4D00-916E-48D7-83B6-3CB87DB60A8D}">
          <p14:sldIdLst>
            <p14:sldId id="396"/>
            <p14:sldId id="397"/>
            <p14:sldId id="404"/>
            <p14:sldId id="39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66FF"/>
    <a:srgbClr val="FFCC66"/>
    <a:srgbClr val="FF99FF"/>
    <a:srgbClr val="FFEA00"/>
    <a:srgbClr val="5B9B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115" autoAdjust="0"/>
    <p:restoredTop sz="94660"/>
  </p:normalViewPr>
  <p:slideViewPr>
    <p:cSldViewPr snapToGrid="0">
      <p:cViewPr varScale="1">
        <p:scale>
          <a:sx n="85" d="100"/>
          <a:sy n="85" d="100"/>
        </p:scale>
        <p:origin x="68" y="1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5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de-CH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5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714BF203-8EDC-4614-A3EA-2FA5E77BDB7E}" type="datetimeFigureOut">
              <a:rPr lang="de-CH" smtClean="0"/>
              <a:t>25.03.2021</a:t>
            </a:fld>
            <a:endParaRPr lang="de-CH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de-CH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4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de-CH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4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4D0CBDD3-8B66-4730-9110-9BE5902842C3}" type="slidenum">
              <a:rPr lang="de-CH" smtClean="0"/>
              <a:t>‹N°›</a:t>
            </a:fld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41213470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9850" y="731838"/>
            <a:ext cx="6510338" cy="366236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54939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8529644-27C0-4655-9503-40E917BF2C41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97283" name="Rectangle 7"/>
          <p:cNvSpPr txBox="1">
            <a:spLocks noGrp="1" noChangeArrowheads="1"/>
          </p:cNvSpPr>
          <p:nvPr/>
        </p:nvSpPr>
        <p:spPr bwMode="auto">
          <a:xfrm>
            <a:off x="3665972" y="10073303"/>
            <a:ext cx="2800748" cy="526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algn="r" defTabSz="947738"/>
            <a:fld id="{0C7B8A1B-A169-42ED-96E3-CF5B68CF2C7A}" type="slidenum">
              <a:rPr lang="en-US" sz="1300" smtClean="0"/>
              <a:pPr algn="r" defTabSz="947738"/>
              <a:t>2</a:t>
            </a:fld>
            <a:endParaRPr lang="en-US" sz="1300" dirty="0"/>
          </a:p>
        </p:txBody>
      </p:sp>
      <p:sp>
        <p:nvSpPr>
          <p:cNvPr id="9728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-300038" y="795338"/>
            <a:ext cx="7069138" cy="3976687"/>
          </a:xfrm>
          <a:ln/>
        </p:spPr>
      </p:sp>
      <p:sp>
        <p:nvSpPr>
          <p:cNvPr id="9728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62230" y="5034811"/>
            <a:ext cx="4742262" cy="4769821"/>
          </a:xfrm>
          <a:noFill/>
          <a:ln/>
        </p:spPr>
        <p:txBody>
          <a:bodyPr lIns="94824" tIns="47416" rIns="94824" bIns="47416"/>
          <a:lstStyle/>
          <a:p>
            <a:pPr eaLnBrk="1" hangingPunct="1"/>
            <a:endParaRPr lang="en-US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64713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8529644-27C0-4655-9503-40E917BF2C41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97283" name="Rectangle 7"/>
          <p:cNvSpPr txBox="1">
            <a:spLocks noGrp="1" noChangeArrowheads="1"/>
          </p:cNvSpPr>
          <p:nvPr/>
        </p:nvSpPr>
        <p:spPr bwMode="auto">
          <a:xfrm>
            <a:off x="3665972" y="10073303"/>
            <a:ext cx="2800748" cy="526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algn="r" defTabSz="947738"/>
            <a:fld id="{0C7B8A1B-A169-42ED-96E3-CF5B68CF2C7A}" type="slidenum">
              <a:rPr lang="en-US" sz="1300" smtClean="0"/>
              <a:pPr algn="r" defTabSz="947738"/>
              <a:t>3</a:t>
            </a:fld>
            <a:endParaRPr lang="en-US" sz="1300" dirty="0"/>
          </a:p>
        </p:txBody>
      </p:sp>
      <p:sp>
        <p:nvSpPr>
          <p:cNvPr id="9728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-300038" y="795338"/>
            <a:ext cx="7069138" cy="3976687"/>
          </a:xfrm>
          <a:ln/>
        </p:spPr>
      </p:sp>
      <p:sp>
        <p:nvSpPr>
          <p:cNvPr id="9728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62230" y="5034811"/>
            <a:ext cx="4742262" cy="4769821"/>
          </a:xfrm>
          <a:noFill/>
          <a:ln/>
        </p:spPr>
        <p:txBody>
          <a:bodyPr lIns="94824" tIns="47416" rIns="94824" bIns="47416"/>
          <a:lstStyle/>
          <a:p>
            <a:pPr eaLnBrk="1" hangingPunct="1"/>
            <a:endParaRPr lang="en-US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51864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8529644-27C0-4655-9503-40E917BF2C41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97283" name="Rectangle 7"/>
          <p:cNvSpPr txBox="1">
            <a:spLocks noGrp="1" noChangeArrowheads="1"/>
          </p:cNvSpPr>
          <p:nvPr/>
        </p:nvSpPr>
        <p:spPr bwMode="auto">
          <a:xfrm>
            <a:off x="3665972" y="10073303"/>
            <a:ext cx="2800748" cy="526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algn="r" defTabSz="947738"/>
            <a:fld id="{0C7B8A1B-A169-42ED-96E3-CF5B68CF2C7A}" type="slidenum">
              <a:rPr lang="en-US" sz="1300" smtClean="0"/>
              <a:pPr algn="r" defTabSz="947738"/>
              <a:t>4</a:t>
            </a:fld>
            <a:endParaRPr lang="en-US" sz="1300" dirty="0"/>
          </a:p>
        </p:txBody>
      </p:sp>
      <p:sp>
        <p:nvSpPr>
          <p:cNvPr id="9728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-300038" y="795338"/>
            <a:ext cx="7069138" cy="3976687"/>
          </a:xfrm>
          <a:ln/>
        </p:spPr>
      </p:sp>
      <p:sp>
        <p:nvSpPr>
          <p:cNvPr id="9728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62230" y="5034811"/>
            <a:ext cx="4742262" cy="4769821"/>
          </a:xfrm>
          <a:noFill/>
          <a:ln/>
        </p:spPr>
        <p:txBody>
          <a:bodyPr lIns="94824" tIns="47416" rIns="94824" bIns="47416"/>
          <a:lstStyle/>
          <a:p>
            <a:pPr eaLnBrk="1" hangingPunct="1"/>
            <a:endParaRPr lang="en-US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76273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4530"/>
            <a:ext cx="9144000" cy="2387600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5A63E5-CE9C-453A-B909-F09D4CDE8FE2}" type="datetime1">
              <a:rPr lang="de-CH" smtClean="0"/>
              <a:t>25.03.2021</a:t>
            </a:fld>
            <a:endParaRPr lang="de-CH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DE10A-6E91-4951-B141-5DEA8C709387}" type="slidenum">
              <a:rPr lang="de-CH" smtClean="0"/>
              <a:t>‹N°›</a:t>
            </a:fld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15163303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E23C0-9083-47D3-9015-9C8E4752728F}" type="datetime1">
              <a:rPr lang="de-CH" smtClean="0"/>
              <a:t>25.03.2021</a:t>
            </a:fld>
            <a:endParaRPr lang="de-CH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DE10A-6E91-4951-B141-5DEA8C709387}" type="slidenum">
              <a:rPr lang="de-CH" smtClean="0"/>
              <a:t>‹N°›</a:t>
            </a:fld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232386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12423"/>
            <a:ext cx="10515600" cy="2851208"/>
          </a:xfrm>
        </p:spPr>
        <p:txBody>
          <a:bodyPr anchor="b">
            <a:normAutofit/>
          </a:bodyPr>
          <a:lstStyle>
            <a:lvl1pPr>
              <a:defRPr sz="6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52633"/>
            <a:ext cx="105156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4BC9A-D3A3-41D8-A6A8-625CCC0A35C4}" type="datetime1">
              <a:rPr lang="de-CH" smtClean="0"/>
              <a:t>25.03.2021</a:t>
            </a:fld>
            <a:endParaRPr lang="de-CH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DE10A-6E91-4951-B141-5DEA8C709387}" type="slidenum">
              <a:rPr lang="de-CH" smtClean="0"/>
              <a:t>‹N°›</a:t>
            </a:fld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0815224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5127" y="1828800"/>
            <a:ext cx="5181600" cy="43513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8800"/>
            <a:ext cx="5181600" cy="43513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5BA88-F650-4CF4-85F5-4A21CC6C36CD}" type="datetime1">
              <a:rPr lang="de-CH" smtClean="0"/>
              <a:t>25.03.2021</a:t>
            </a:fld>
            <a:endParaRPr lang="de-CH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DE10A-6E91-4951-B141-5DEA8C709387}" type="slidenum">
              <a:rPr lang="de-CH" smtClean="0"/>
              <a:t>‹N°›</a:t>
            </a:fld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42162315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681850"/>
            <a:ext cx="5156200" cy="825699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5127" y="2507550"/>
            <a:ext cx="5156200" cy="36805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851"/>
            <a:ext cx="51816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7550"/>
            <a:ext cx="5181601" cy="36805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F1274-2A42-4377-8346-113C812282A9}" type="datetime1">
              <a:rPr lang="de-CH" smtClean="0"/>
              <a:t>25.03.2021</a:t>
            </a:fld>
            <a:endParaRPr lang="de-CH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DE10A-6E91-4951-B141-5DEA8C709387}" type="slidenum">
              <a:rPr lang="de-CH" smtClean="0"/>
              <a:t>‹N°›</a:t>
            </a:fld>
            <a:endParaRPr lang="de-CH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301237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AB090-5FA9-40DF-974B-AC01369F343A}" type="datetime1">
              <a:rPr lang="de-CH" smtClean="0"/>
              <a:t>25.03.2021</a:t>
            </a:fld>
            <a:endParaRPr lang="de-CH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DE10A-6E91-4951-B141-5DEA8C709387}" type="slidenum">
              <a:rPr lang="de-CH" smtClean="0"/>
              <a:t>‹N°›</a:t>
            </a:fld>
            <a:endParaRPr lang="de-CH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830597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5D0A5E-3403-4303-970D-7F7EF2978BAB}" type="datetime1">
              <a:rPr lang="de-CH" smtClean="0"/>
              <a:t>25.03.2021</a:t>
            </a:fld>
            <a:endParaRPr lang="de-CH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DE10A-6E91-4951-B141-5DEA8C709387}" type="slidenum">
              <a:rPr lang="de-CH" smtClean="0"/>
              <a:t>‹N°›</a:t>
            </a:fld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17264990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197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399"/>
            <a:ext cx="3931920" cy="381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CD18DD-FD89-4BBD-8460-7419461280A3}" type="datetime1">
              <a:rPr lang="de-CH" smtClean="0"/>
              <a:t>25.03.2021</a:t>
            </a:fld>
            <a:endParaRPr lang="de-CH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DE10A-6E91-4951-B141-5DEA8C709387}" type="slidenum">
              <a:rPr lang="de-CH" smtClean="0"/>
              <a:t>‹N°›</a:t>
            </a:fld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28677204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20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400"/>
            <a:ext cx="3931920" cy="381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064AF-C105-4F23-B920-FB3676A0D02B}" type="datetime1">
              <a:rPr lang="de-CH" smtClean="0"/>
              <a:t>25.03.2021</a:t>
            </a:fld>
            <a:endParaRPr lang="de-CH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DE10A-6E91-4951-B141-5DEA8C709387}" type="slidenum">
              <a:rPr lang="de-CH" smtClean="0"/>
              <a:t>‹N°›</a:t>
            </a:fld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1855489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3F6F4-2EBB-4CF5-AF35-D55CD3B4985A}" type="datetime1">
              <a:rPr lang="de-CH" smtClean="0"/>
              <a:t>25.03.2021</a:t>
            </a:fld>
            <a:endParaRPr lang="de-CH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DE10A-6E91-4951-B141-5DEA8C709387}" type="slidenum">
              <a:rPr lang="de-CH" smtClean="0"/>
              <a:t>‹N°›</a:t>
            </a:fld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5095977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0362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0362"/>
            <a:ext cx="7734300" cy="581183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26658-A004-48E9-9295-640D04BE6EFB}" type="datetime1">
              <a:rPr lang="de-CH" smtClean="0"/>
              <a:t>25.03.2021</a:t>
            </a:fld>
            <a:endParaRPr lang="de-CH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DE10A-6E91-4951-B141-5DEA8C709387}" type="slidenum">
              <a:rPr lang="de-CH" smtClean="0"/>
              <a:t>‹N°›</a:t>
            </a:fld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15435841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516321" y="1483952"/>
            <a:ext cx="11134799" cy="4319248"/>
          </a:xfrm>
          <a:noFill/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38" name="Titel 1"/>
          <p:cNvSpPr>
            <a:spLocks noGrp="1"/>
          </p:cNvSpPr>
          <p:nvPr>
            <p:ph type="title"/>
          </p:nvPr>
        </p:nvSpPr>
        <p:spPr>
          <a:xfrm>
            <a:off x="516321" y="410830"/>
            <a:ext cx="11134799" cy="1073122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de-DE" dirty="0"/>
              <a:t>Titelmasterformat durch Klicken bearbeiten</a:t>
            </a:r>
            <a:endParaRPr lang="en-US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4F164-3A46-4CEE-A25C-CA523D5E42F3}" type="slidenum">
              <a:rPr lang="en-US" smtClean="0"/>
              <a:t>‹N°›</a:t>
            </a:fld>
            <a:endParaRPr lang="en-US" dirty="0"/>
          </a:p>
        </p:txBody>
      </p:sp>
      <p:sp>
        <p:nvSpPr>
          <p:cNvPr id="13" name="Textplatzhalt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516320" y="942478"/>
            <a:ext cx="11134587" cy="541474"/>
          </a:xfrm>
        </p:spPr>
        <p:txBody>
          <a:bodyPr lIns="10800" anchor="t" anchorCtr="0"/>
          <a:lstStyle>
            <a:lvl1pPr marL="0" indent="0">
              <a:buNone/>
              <a:defRPr sz="2000">
                <a:solidFill>
                  <a:srgbClr val="7F7F7F"/>
                </a:solidFill>
              </a:defRPr>
            </a:lvl1pPr>
          </a:lstStyle>
          <a:p>
            <a:r>
              <a:rPr lang="en-US" noProof="1">
                <a:latin typeface="Calibri Light" panose="020F0302020204030204" pitchFamily="34" charset="0"/>
              </a:rPr>
              <a:t>Enter your subheadline here</a:t>
            </a:r>
          </a:p>
        </p:txBody>
      </p:sp>
    </p:spTree>
    <p:extLst>
      <p:ext uri="{BB962C8B-B14F-4D97-AF65-F5344CB8AC3E}">
        <p14:creationId xmlns:p14="http://schemas.microsoft.com/office/powerpoint/2010/main" val="20343197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45127" y="365760"/>
            <a:ext cx="105156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828800"/>
            <a:ext cx="1051560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FF8E2FB7-E098-499A-B641-70293686ED79}" type="datetime1">
              <a:rPr lang="de-CH" smtClean="0"/>
              <a:t>25.03.2021</a:t>
            </a:fld>
            <a:endParaRPr lang="de-CH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de-CH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7527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0DE10A-6E91-4951-B141-5DEA8C709387}" type="slidenum">
              <a:rPr lang="de-CH" smtClean="0"/>
              <a:t>‹N°›</a:t>
            </a:fld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4534238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  <p:sldLayoutId id="2147483725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 2" pitchFamily="18" charset="2"/>
        <a:buChar char="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.jpeg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8561175"/>
              </p:ext>
            </p:extLst>
          </p:nvPr>
        </p:nvGraphicFramePr>
        <p:xfrm>
          <a:off x="1198849" y="1010326"/>
          <a:ext cx="7616309" cy="22976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163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2138">
                <a:tc>
                  <a:txBody>
                    <a:bodyPr/>
                    <a:lstStyle/>
                    <a:p>
                      <a:pPr algn="ctr">
                        <a:defRPr sz="1800" b="0"/>
                      </a:pPr>
                      <a:r>
                        <a:rPr lang="de-CH" sz="2000" b="1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oupe-Medium"/>
                          <a:cs typeface="Coupe-Medium"/>
                          <a:sym typeface="Coupe-Medium"/>
                        </a:rPr>
                        <a:t>TAKE-OUT SYSTEM FEATURES</a:t>
                      </a:r>
                      <a:endParaRPr sz="2000" b="1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ea typeface="Coupe-Medium"/>
                        <a:cs typeface="Coupe-Medium"/>
                        <a:sym typeface="Coupe-Medium"/>
                      </a:endParaRPr>
                    </a:p>
                  </a:txBody>
                  <a:tcPr marL="30678" marR="30678" marT="30678" marB="30678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 defTabSz="685800">
                        <a:defRPr sz="1800" b="0"/>
                      </a:pPr>
                      <a:r>
                        <a:rPr lang="en-CA" sz="1100" b="0" noProof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oupe-Medium"/>
                          <a:cs typeface="Coupe-Medium"/>
                          <a:sym typeface="Coupe-Medium"/>
                        </a:rPr>
                        <a:t>Warranty - 12 months for refurbished and new Gearboxes</a:t>
                      </a:r>
                    </a:p>
                  </a:txBody>
                  <a:tcPr marL="30678" marR="30678" marT="30678" marB="30678" anchor="ctr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6206">
                <a:tc>
                  <a:txBody>
                    <a:bodyPr/>
                    <a:lstStyle/>
                    <a:p>
                      <a:pPr algn="l" defTabSz="685800">
                        <a:defRPr sz="1800" b="0"/>
                      </a:pPr>
                      <a:r>
                        <a:rPr lang="en-CA" sz="1100" b="0" noProof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oupe-Medium"/>
                          <a:cs typeface="Coupe-Medium"/>
                          <a:sym typeface="Coupe-Medium"/>
                        </a:rPr>
                        <a:t>Made by the original Swiss Gearbox manufacturer.</a:t>
                      </a:r>
                    </a:p>
                    <a:p>
                      <a:pPr algn="l" defTabSz="685800">
                        <a:defRPr sz="1800" b="0"/>
                      </a:pPr>
                      <a:r>
                        <a:rPr lang="en-CA" sz="1100" b="0" noProof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oupe-Medium"/>
                          <a:cs typeface="Coupe-Medium"/>
                          <a:sym typeface="Coupe-Medium"/>
                        </a:rPr>
                        <a:t>Well known </a:t>
                      </a:r>
                      <a:r>
                        <a:rPr lang="en-US" sz="1100" b="0" kern="1200" noProof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oupe-Medium"/>
                          <a:cs typeface="Coupe-Medium"/>
                          <a:sym typeface="Coupe-Medium"/>
                        </a:rPr>
                        <a:t>high quality &amp; long lifetime</a:t>
                      </a: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/>
                      </a:pPr>
                      <a:r>
                        <a:rPr lang="en-CA" sz="1100" b="0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oupe-Medium"/>
                          <a:cs typeface="Coupe-Medium"/>
                          <a:sym typeface="Coupe-Medium"/>
                        </a:rPr>
                        <a:t>No compromises</a:t>
                      </a:r>
                      <a:r>
                        <a:rPr lang="en-CA" sz="1100" b="0" kern="1200" baseline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oupe-Medium"/>
                          <a:cs typeface="Coupe-Medium"/>
                          <a:sym typeface="Coupe-Medium"/>
                        </a:rPr>
                        <a:t> and</a:t>
                      </a:r>
                      <a:r>
                        <a:rPr lang="en-CA" sz="1100" b="0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oupe-Medium"/>
                          <a:cs typeface="Coupe-Medium"/>
                          <a:sym typeface="Coupe-Medium"/>
                        </a:rPr>
                        <a:t> no risks regarding quality and durability.</a:t>
                      </a: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/>
                      </a:pPr>
                      <a:r>
                        <a:rPr lang="en-CA" sz="1100" b="0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oupe-Medium"/>
                          <a:cs typeface="Coupe-Medium"/>
                          <a:sym typeface="Coupe-Medium"/>
                        </a:rPr>
                        <a:t>SETO Version 1 is since 2003 under glass.</a:t>
                      </a:r>
                    </a:p>
                  </a:txBody>
                  <a:tcPr marL="30678" marR="30678" marT="30678" marB="30678" anchor="ctr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8512">
                <a:tc>
                  <a:txBody>
                    <a:bodyPr/>
                    <a:lstStyle/>
                    <a:p>
                      <a:pPr algn="l" defTabSz="685800">
                        <a:defRPr sz="1800" b="0"/>
                      </a:pPr>
                      <a:r>
                        <a:rPr lang="en-CA" sz="1100" b="0" noProof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oupe-Medium"/>
                          <a:cs typeface="Coupe-Medium"/>
                          <a:sym typeface="Coupe-Medium"/>
                        </a:rPr>
                        <a:t>Same backlash as on a new Gearbox (10 arcmin max.)</a:t>
                      </a: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/>
                      </a:pPr>
                      <a:r>
                        <a:rPr lang="en-US" sz="1100" b="0" dirty="0">
                          <a:solidFill>
                            <a:srgbClr val="000000"/>
                          </a:solidFill>
                          <a:latin typeface="Calibri "/>
                          <a:cs typeface="Arial" charset="0"/>
                        </a:rPr>
                        <a:t>Worm gear is precisely aligned to worm shaft at assembly for low backlash &amp; very long durability</a:t>
                      </a:r>
                    </a:p>
                  </a:txBody>
                  <a:tcPr marL="30678" marR="30678" marT="30678" marB="30678" anchor="ctr" horzOverflow="overflow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/>
                      </a:pPr>
                      <a:r>
                        <a:rPr lang="en-CA" sz="1100" b="0" noProof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oupe-Medium"/>
                          <a:cs typeface="Coupe-Medium"/>
                          <a:sym typeface="Coupe-Medium"/>
                        </a:rPr>
                        <a:t>New front cover with extra strong end stops</a:t>
                      </a:r>
                      <a:endParaRPr lang="en-US" sz="1100" b="0" dirty="0">
                        <a:solidFill>
                          <a:schemeClr val="tx1"/>
                        </a:solidFill>
                        <a:latin typeface="+mn-lt"/>
                        <a:ea typeface="Coupe-Medium"/>
                        <a:cs typeface="Coupe-Medium"/>
                        <a:sym typeface="Coupe-Medium"/>
                      </a:endParaRPr>
                    </a:p>
                  </a:txBody>
                  <a:tcPr marL="30678" marR="30678" marT="30678" marB="30678" anchor="ctr" horzOverflow="overflow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5839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/>
                      </a:pPr>
                      <a:r>
                        <a:rPr lang="en-US" sz="11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oupe-Medium"/>
                          <a:cs typeface="Coupe-Medium"/>
                          <a:sym typeface="Coupe-Medium"/>
                        </a:rPr>
                        <a:t>SETO Version 1 can be repaired an unlimited number of times cheaply</a:t>
                      </a:r>
                      <a:endParaRPr lang="en-US" sz="1100" b="0" dirty="0">
                        <a:solidFill>
                          <a:schemeClr val="tx1"/>
                        </a:solidFill>
                        <a:latin typeface="+mn-lt"/>
                        <a:ea typeface="Coupe-Medium"/>
                        <a:cs typeface="Coupe-Medium"/>
                        <a:sym typeface="Coupe-Medium"/>
                      </a:endParaRPr>
                    </a:p>
                  </a:txBody>
                  <a:tcPr marL="30678" marR="30678" marT="30678" marB="30678" anchor="ctr" horzOverflow="overflow"/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  <p:sp>
        <p:nvSpPr>
          <p:cNvPr id="4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8617527" y="6356350"/>
            <a:ext cx="2743200" cy="365125"/>
          </a:xfrm>
        </p:spPr>
        <p:txBody>
          <a:bodyPr/>
          <a:lstStyle/>
          <a:p>
            <a:r>
              <a:rPr lang="de-CH" dirty="0"/>
              <a:t>4</a:t>
            </a:r>
            <a:endParaRPr lang="en-US" dirty="0"/>
          </a:p>
        </p:txBody>
      </p:sp>
      <p:sp>
        <p:nvSpPr>
          <p:cNvPr id="5" name="_h1">
            <a:extLst>
              <a:ext uri="{FF2B5EF4-FFF2-40B4-BE49-F238E27FC236}">
                <a16:creationId xmlns:a16="http://schemas.microsoft.com/office/drawing/2014/main" id="{5942E980-6428-423A-9F69-E7F5F67DF45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gray">
          <a:xfrm>
            <a:off x="587375" y="215318"/>
            <a:ext cx="11200072" cy="692732"/>
          </a:xfrm>
        </p:spPr>
        <p:txBody>
          <a:bodyPr>
            <a:noAutofit/>
          </a:bodyPr>
          <a:lstStyle/>
          <a:p>
            <a:r>
              <a:rPr lang="de-CH" b="1" u="sng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Take-Out System Features, Compact Version  </a:t>
            </a:r>
            <a:endParaRPr lang="en-US" b="1" u="sng" dirty="0">
              <a:solidFill>
                <a:schemeClr val="accent1">
                  <a:lumMod val="50000"/>
                </a:schemeClr>
              </a:solidFill>
              <a:latin typeface="+mn-lt"/>
            </a:endParaRPr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1000A22B-89C5-4856-A24A-057166E6869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27321928"/>
              </p:ext>
            </p:extLst>
          </p:nvPr>
        </p:nvGraphicFramePr>
        <p:xfrm>
          <a:off x="1198849" y="3651349"/>
          <a:ext cx="8202846" cy="1464510"/>
        </p:xfrm>
        <a:graphic>
          <a:graphicData uri="http://schemas.openxmlformats.org/drawingml/2006/table">
            <a:tbl>
              <a:tblPr firstRow="1" firstCol="1" bandRow="1"/>
              <a:tblGrid>
                <a:gridCol w="82028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7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333500" algn="l"/>
                        </a:tabLst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1100" u="sng" dirty="0">
                          <a:latin typeface="Calibri" panose="020F0502020204030204" pitchFamily="34" charset="0"/>
                          <a:ea typeface="Coupe-Medium"/>
                          <a:cs typeface="Coupe-Medium"/>
                          <a:sym typeface="Coupe-Medium"/>
                        </a:rPr>
                        <a:t>Zero backlash operation</a:t>
                      </a:r>
                      <a:r>
                        <a:rPr lang="de-CH" sz="1100" dirty="0">
                          <a:latin typeface="Calibri" panose="020F0502020204030204" pitchFamily="34" charset="0"/>
                          <a:ea typeface="Coupe-Medium"/>
                          <a:cs typeface="Coupe-Medium"/>
                          <a:sym typeface="Coupe-Medium"/>
                        </a:rPr>
                        <a:t>: </a:t>
                      </a:r>
                      <a:r>
                        <a:rPr lang="en-US" sz="1100" dirty="0">
                          <a:latin typeface="Calibri" panose="020F0502020204030204" pitchFamily="34" charset="0"/>
                          <a:ea typeface="Coupe-Medium"/>
                          <a:cs typeface="Coupe-Medium"/>
                          <a:sym typeface="Coupe-Medium"/>
                        </a:rPr>
                        <a:t>Excellent repeatability and positional accuracy even at high speed operation. Reduces vibration of Tong Head</a:t>
                      </a:r>
                    </a:p>
                  </a:txBody>
                  <a:tcPr marL="36000" marR="36000" marT="36000" marB="36000" anchor="ctr" horzOverflow="overflow"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>
                      <a:noFill/>
                      <a:prstDash val="solid"/>
                      <a:round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 defTabSz="685800">
                        <a:lnSpc>
                          <a:spcPct val="107000"/>
                        </a:lnSpc>
                        <a:spcBef>
                          <a:spcPts val="300"/>
                        </a:spcBef>
                        <a:tabLst>
                          <a:tab pos="1333500" algn="l"/>
                        </a:tabLst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1100" dirty="0">
                          <a:latin typeface="Calibri" panose="020F0502020204030204" pitchFamily="34" charset="0"/>
                          <a:ea typeface="Coupe-Medium"/>
                          <a:cs typeface="Coupe-Medium"/>
                          <a:sym typeface="Coupe-Medium"/>
                        </a:rPr>
                        <a:t>Fool</a:t>
                      </a:r>
                      <a:r>
                        <a:rPr lang="de-CH" sz="1100" dirty="0">
                          <a:latin typeface="Calibri" panose="020F0502020204030204" pitchFamily="34" charset="0"/>
                          <a:ea typeface="Coupe-Medium"/>
                          <a:cs typeface="Coupe-Medium"/>
                          <a:sym typeface="Coupe-Medium"/>
                        </a:rPr>
                        <a:t>-</a:t>
                      </a:r>
                      <a:r>
                        <a:rPr sz="1100" dirty="0">
                          <a:latin typeface="Calibri" panose="020F0502020204030204" pitchFamily="34" charset="0"/>
                          <a:ea typeface="Coupe-Medium"/>
                          <a:cs typeface="Coupe-Medium"/>
                          <a:sym typeface="Coupe-Medium"/>
                        </a:rPr>
                        <a:t>pro</a:t>
                      </a:r>
                      <a:r>
                        <a:rPr lang="de-CH" sz="1100" dirty="0" err="1">
                          <a:latin typeface="Calibri" panose="020F0502020204030204" pitchFamily="34" charset="0"/>
                          <a:ea typeface="Coupe-Medium"/>
                          <a:cs typeface="Coupe-Medium"/>
                          <a:sym typeface="Coupe-Medium"/>
                        </a:rPr>
                        <a:t>of</a:t>
                      </a:r>
                      <a:r>
                        <a:rPr sz="1100" dirty="0">
                          <a:latin typeface="Calibri" panose="020F0502020204030204" pitchFamily="34" charset="0"/>
                          <a:ea typeface="Coupe-Medium"/>
                          <a:cs typeface="Coupe-Medium"/>
                          <a:sym typeface="Coupe-Medium"/>
                        </a:rPr>
                        <a:t> design</a:t>
                      </a:r>
                      <a:r>
                        <a:rPr lang="de-CH" sz="1100" dirty="0">
                          <a:latin typeface="Calibri" panose="020F0502020204030204" pitchFamily="34" charset="0"/>
                          <a:ea typeface="Coupe-Medium"/>
                          <a:cs typeface="Coupe-Medium"/>
                          <a:sym typeface="Coupe-Medium"/>
                        </a:rPr>
                        <a:t>. </a:t>
                      </a:r>
                      <a:r>
                        <a:rPr lang="en-US" sz="1100" noProof="0" dirty="0">
                          <a:latin typeface="Calibri" panose="020F0502020204030204" pitchFamily="34" charset="0"/>
                          <a:ea typeface="Coupe-Medium"/>
                          <a:cs typeface="Coupe-Medium"/>
                          <a:sym typeface="Coupe-Medium"/>
                        </a:rPr>
                        <a:t>No adjustments at assembly or maintenance. </a:t>
                      </a:r>
                      <a:r>
                        <a:rPr lang="en-US" sz="1100" dirty="0">
                          <a:latin typeface="Calibri" panose="020F0502020204030204" pitchFamily="34" charset="0"/>
                          <a:ea typeface="Coupe-Medium"/>
                          <a:cs typeface="Coupe-Medium"/>
                          <a:sym typeface="Coupe-Medium"/>
                        </a:rPr>
                        <a:t>No risk to overload angular bearings</a:t>
                      </a:r>
                      <a:endParaRPr sz="1100" dirty="0">
                        <a:latin typeface="Calibri" panose="020F0502020204030204" pitchFamily="34" charset="0"/>
                        <a:ea typeface="Coupe-Medium"/>
                        <a:cs typeface="Coupe-Medium"/>
                        <a:sym typeface="Coupe-Medium"/>
                      </a:endParaRPr>
                    </a:p>
                  </a:txBody>
                  <a:tcPr marL="36000" marR="36000" marT="36000" marB="36000" anchor="ctr" horzOverflow="overflow"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marR="457200" algn="l" defTabSz="457200">
                        <a:lnSpc>
                          <a:spcPct val="107916"/>
                        </a:lnSpc>
                        <a:spcBef>
                          <a:spcPts val="300"/>
                        </a:spcBef>
                        <a:tabLst>
                          <a:tab pos="1333500" algn="l"/>
                        </a:tabLst>
                        <a:defRPr sz="1100" b="0">
                          <a:solidFill>
                            <a:srgbClr val="000000"/>
                          </a:solidFill>
                          <a:latin typeface="Coupe-Medium"/>
                          <a:ea typeface="Coupe-Medium"/>
                          <a:cs typeface="Coupe-Medium"/>
                          <a:sym typeface="Coupe-Medium"/>
                        </a:defRPr>
                      </a:pPr>
                      <a:r>
                        <a:rPr lang="en-US" sz="1100" dirty="0">
                          <a:latin typeface="Calibri" panose="020F0502020204030204" pitchFamily="34" charset="0"/>
                          <a:ea typeface="Coupe-Medium"/>
                          <a:cs typeface="Coupe-Medium"/>
                          <a:sym typeface="Coupe-Medium"/>
                        </a:rPr>
                        <a:t>Improved precision of Tong Head angular position adjustment when used on SETO Gear Box</a:t>
                      </a:r>
                      <a:endParaRPr sz="1100" dirty="0">
                        <a:latin typeface="Calibri" panose="020F0502020204030204" pitchFamily="34" charset="0"/>
                      </a:endParaRPr>
                    </a:p>
                  </a:txBody>
                  <a:tcPr marL="36000" marR="36000" marT="36000" marB="36000" anchor="ctr" horzOverflow="overflow"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 defTabSz="685800">
                        <a:lnSpc>
                          <a:spcPct val="107000"/>
                        </a:lnSpc>
                        <a:spcBef>
                          <a:spcPts val="300"/>
                        </a:spcBef>
                        <a:tabLst>
                          <a:tab pos="1333500" algn="l"/>
                        </a:tabLst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1100" dirty="0">
                          <a:latin typeface="Calibri" panose="020F0502020204030204" pitchFamily="34" charset="0"/>
                          <a:ea typeface="Coupe-Medium"/>
                          <a:cs typeface="Coupe-Medium"/>
                          <a:sym typeface="Coupe-Medium"/>
                        </a:rPr>
                        <a:t>Fully covered</a:t>
                      </a:r>
                      <a:r>
                        <a:rPr lang="de-CH" sz="1100" dirty="0">
                          <a:latin typeface="Calibri" panose="020F0502020204030204" pitchFamily="34" charset="0"/>
                          <a:ea typeface="Coupe-Medium"/>
                          <a:cs typeface="Coupe-Medium"/>
                          <a:sym typeface="Coupe-Medium"/>
                        </a:rPr>
                        <a:t> </a:t>
                      </a:r>
                      <a:r>
                        <a:rPr lang="en-US" sz="1100" noProof="0" dirty="0">
                          <a:latin typeface="Calibri" panose="020F0502020204030204" pitchFamily="34" charset="0"/>
                          <a:ea typeface="Coupe-Medium"/>
                          <a:cs typeface="Coupe-Medium"/>
                          <a:sym typeface="Coupe-Medium"/>
                        </a:rPr>
                        <a:t>roller</a:t>
                      </a:r>
                      <a:r>
                        <a:rPr lang="de-CH" sz="1100" dirty="0">
                          <a:latin typeface="Calibri" panose="020F0502020204030204" pitchFamily="34" charset="0"/>
                          <a:ea typeface="Coupe-Medium"/>
                          <a:cs typeface="Coupe-Medium"/>
                          <a:sym typeface="Coupe-Medium"/>
                        </a:rPr>
                        <a:t> </a:t>
                      </a:r>
                      <a:r>
                        <a:rPr lang="en-US" sz="1100" noProof="0" dirty="0">
                          <a:latin typeface="Calibri" panose="020F0502020204030204" pitchFamily="34" charset="0"/>
                          <a:ea typeface="Coupe-Medium"/>
                          <a:cs typeface="Coupe-Medium"/>
                          <a:sym typeface="Coupe-Medium"/>
                        </a:rPr>
                        <a:t>bearings. Sealed for life.</a:t>
                      </a:r>
                      <a:endParaRPr sz="1100" dirty="0">
                        <a:latin typeface="Calibri" panose="020F0502020204030204" pitchFamily="34" charset="0"/>
                        <a:ea typeface="Coupe-Medium"/>
                        <a:cs typeface="Coupe-Medium"/>
                        <a:sym typeface="Coupe-Medium"/>
                      </a:endParaRPr>
                    </a:p>
                  </a:txBody>
                  <a:tcPr marL="36000" marR="36000" marT="36000" marB="36000" anchor="ctr" horzOverflow="overflow"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marR="457200" algn="l" defTabSz="457200">
                        <a:lnSpc>
                          <a:spcPct val="107916"/>
                        </a:lnSpc>
                        <a:spcBef>
                          <a:spcPts val="300"/>
                        </a:spcBef>
                        <a:tabLst>
                          <a:tab pos="1333500" algn="l"/>
                        </a:tabLst>
                        <a:defRPr sz="1000" b="0">
                          <a:solidFill>
                            <a:srgbClr val="000000"/>
                          </a:solidFill>
                          <a:latin typeface="Coupe-Medium"/>
                          <a:ea typeface="Coupe-Medium"/>
                          <a:cs typeface="Coupe-Medium"/>
                          <a:sym typeface="Coupe-Medium"/>
                        </a:defRPr>
                      </a:pPr>
                      <a:r>
                        <a:rPr sz="1100" dirty="0">
                          <a:latin typeface="Calibri" panose="020F0502020204030204" pitchFamily="34" charset="0"/>
                        </a:rPr>
                        <a:t>Actively cooled Arm with the seals, the timing belt and the lubricating grease in the bearings</a:t>
                      </a:r>
                    </a:p>
                  </a:txBody>
                  <a:tcPr marL="36000" marR="36000" marT="36000" marB="36000" anchor="ctr" horzOverflow="overflow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marR="457200" algn="l" defTabSz="457200">
                        <a:lnSpc>
                          <a:spcPct val="107916"/>
                        </a:lnSpc>
                        <a:spcBef>
                          <a:spcPts val="800"/>
                        </a:spcBef>
                        <a:defRPr sz="1800" b="0">
                          <a:solidFill>
                            <a:srgbClr val="000000"/>
                          </a:solidFill>
                        </a:defRPr>
                      </a:pPr>
                      <a:r>
                        <a:rPr sz="1100" dirty="0">
                          <a:latin typeface="Calibri" panose="020F0502020204030204" pitchFamily="34" charset="0"/>
                          <a:ea typeface="Coupe-Medium"/>
                          <a:cs typeface="Coupe-Medium"/>
                          <a:sym typeface="Coupe-Medium"/>
                        </a:rPr>
                        <a:t>Modular design, most parts are identical on all Take Out Arm versions and sizes</a:t>
                      </a:r>
                      <a:r>
                        <a:rPr lang="de-CH" sz="1100" dirty="0">
                          <a:latin typeface="Calibri" panose="020F0502020204030204" pitchFamily="34" charset="0"/>
                          <a:ea typeface="Coupe-Medium"/>
                          <a:cs typeface="Coupe-Medium"/>
                          <a:sym typeface="Coupe-Medium"/>
                        </a:rPr>
                        <a:t>. </a:t>
                      </a:r>
                      <a:r>
                        <a:rPr lang="de-CH" sz="1100" dirty="0" err="1">
                          <a:latin typeface="Calibri" panose="020F0502020204030204" pitchFamily="34" charset="0"/>
                          <a:ea typeface="Coupe-Medium"/>
                          <a:cs typeface="Coupe-Medium"/>
                          <a:sym typeface="Coupe-Medium"/>
                        </a:rPr>
                        <a:t>Minimized</a:t>
                      </a:r>
                      <a:r>
                        <a:rPr lang="de-CH" sz="1100" dirty="0">
                          <a:latin typeface="Calibri" panose="020F0502020204030204" pitchFamily="34" charset="0"/>
                          <a:ea typeface="Coupe-Medium"/>
                          <a:cs typeface="Coupe-Medium"/>
                          <a:sym typeface="Coupe-Medium"/>
                        </a:rPr>
                        <a:t> </a:t>
                      </a:r>
                      <a:r>
                        <a:rPr lang="de-CH" sz="1100" dirty="0" err="1">
                          <a:latin typeface="Calibri" panose="020F0502020204030204" pitchFamily="34" charset="0"/>
                          <a:ea typeface="Coupe-Medium"/>
                          <a:cs typeface="Coupe-Medium"/>
                          <a:sym typeface="Coupe-Medium"/>
                        </a:rPr>
                        <a:t>number</a:t>
                      </a:r>
                      <a:r>
                        <a:rPr lang="de-CH" sz="1100" dirty="0">
                          <a:latin typeface="Calibri" panose="020F0502020204030204" pitchFamily="34" charset="0"/>
                          <a:ea typeface="Coupe-Medium"/>
                          <a:cs typeface="Coupe-Medium"/>
                          <a:sym typeface="Coupe-Medium"/>
                        </a:rPr>
                        <a:t> </a:t>
                      </a:r>
                      <a:r>
                        <a:rPr lang="de-CH" sz="1100" dirty="0" err="1">
                          <a:latin typeface="Calibri" panose="020F0502020204030204" pitchFamily="34" charset="0"/>
                          <a:ea typeface="Coupe-Medium"/>
                          <a:cs typeface="Coupe-Medium"/>
                          <a:sym typeface="Coupe-Medium"/>
                        </a:rPr>
                        <a:t>of</a:t>
                      </a:r>
                      <a:r>
                        <a:rPr lang="de-CH" sz="1100" dirty="0">
                          <a:latin typeface="Calibri" panose="020F0502020204030204" pitchFamily="34" charset="0"/>
                          <a:ea typeface="Coupe-Medium"/>
                          <a:cs typeface="Coupe-Medium"/>
                          <a:sym typeface="Coupe-Medium"/>
                        </a:rPr>
                        <a:t> different spare </a:t>
                      </a:r>
                      <a:r>
                        <a:rPr lang="de-CH" sz="1100" dirty="0" err="1">
                          <a:latin typeface="Calibri" panose="020F0502020204030204" pitchFamily="34" charset="0"/>
                          <a:ea typeface="Coupe-Medium"/>
                          <a:cs typeface="Coupe-Medium"/>
                          <a:sym typeface="Coupe-Medium"/>
                        </a:rPr>
                        <a:t>parts</a:t>
                      </a:r>
                      <a:r>
                        <a:rPr lang="de-CH" sz="1100" dirty="0">
                          <a:latin typeface="Calibri" panose="020F0502020204030204" pitchFamily="34" charset="0"/>
                          <a:ea typeface="Coupe-Medium"/>
                          <a:cs typeface="Coupe-Medium"/>
                          <a:sym typeface="Coupe-Medium"/>
                        </a:rPr>
                        <a:t>.</a:t>
                      </a:r>
                      <a:endParaRPr sz="1100" dirty="0">
                        <a:latin typeface="Calibri" panose="020F0502020204030204" pitchFamily="34" charset="0"/>
                        <a:ea typeface="Coupe-Medium"/>
                        <a:cs typeface="Coupe-Medium"/>
                        <a:sym typeface="Coupe-Medium"/>
                      </a:endParaRPr>
                    </a:p>
                  </a:txBody>
                  <a:tcPr marL="36000" marR="36000" marT="36000" marB="36000" anchor="ctr" horzOverflow="overflow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664637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4F164-3A46-4CEE-A25C-CA523D5E42F3}" type="slidenum">
              <a:rPr lang="en-US" smtClean="0"/>
              <a:t>2</a:t>
            </a:fld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7363833" y="4914954"/>
            <a:ext cx="4554241" cy="120032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n-US" dirty="0">
                <a:solidFill>
                  <a:srgbClr val="000000"/>
                </a:solidFill>
                <a:latin typeface="Calibri "/>
                <a:cs typeface="Arial" charset="0"/>
              </a:rPr>
              <a:t>New output hub with induction hardened keyways, keys machined into Take-Out Arm adapter and end stop separated from key </a:t>
            </a:r>
            <a:r>
              <a:rPr lang="en-CA" dirty="0">
                <a:solidFill>
                  <a:srgbClr val="000000"/>
                </a:solidFill>
                <a:latin typeface="Calibri "/>
                <a:cs typeface="Arial" charset="0"/>
              </a:rPr>
              <a:t>r</a:t>
            </a:r>
            <a:r>
              <a:rPr lang="en-CA" dirty="0"/>
              <a:t>educes risk to damage the gear box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128" y="1909641"/>
            <a:ext cx="2413518" cy="246768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0" name="_h1"/>
          <p:cNvSpPr>
            <a:spLocks noGrp="1" noChangeArrowheads="1"/>
          </p:cNvSpPr>
          <p:nvPr>
            <p:ph type="title"/>
          </p:nvPr>
        </p:nvSpPr>
        <p:spPr bwMode="gray">
          <a:xfrm>
            <a:off x="587375" y="215318"/>
            <a:ext cx="1673687" cy="692732"/>
          </a:xfrm>
        </p:spPr>
        <p:txBody>
          <a:bodyPr>
            <a:noAutofit/>
          </a:bodyPr>
          <a:lstStyle/>
          <a:p>
            <a:r>
              <a:rPr lang="de-CH" b="1" u="sng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P</a:t>
            </a:r>
            <a:r>
              <a:rPr lang="en-US" b="1" u="sng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roblem</a:t>
            </a:r>
            <a:endParaRPr lang="en-US" b="1" u="sng" dirty="0">
              <a:solidFill>
                <a:schemeClr val="accent1">
                  <a:lumMod val="50000"/>
                </a:schemeClr>
              </a:solidFill>
              <a:latin typeface="+mn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C5E0446-0F0F-4FF6-B779-9631557199B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6107" y="1002704"/>
            <a:ext cx="2096511" cy="2103209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6E5ADE9-0FB7-4431-8107-436DCEB5A458}"/>
              </a:ext>
            </a:extLst>
          </p:cNvPr>
          <p:cNvCxnSpPr>
            <a:cxnSpLocks/>
          </p:cNvCxnSpPr>
          <p:nvPr/>
        </p:nvCxnSpPr>
        <p:spPr>
          <a:xfrm flipH="1">
            <a:off x="10662409" y="203026"/>
            <a:ext cx="1036428" cy="1555945"/>
          </a:xfrm>
          <a:prstGeom prst="straightConnector1">
            <a:avLst/>
          </a:prstGeom>
          <a:ln w="127000" cmpd="sng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12450EDF-0053-4BCD-8B42-61DB26E5FCB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128" y="4815196"/>
            <a:ext cx="2415896" cy="1665010"/>
          </a:xfrm>
          <a:prstGeom prst="rect">
            <a:avLst/>
          </a:prstGeom>
        </p:spPr>
      </p:pic>
      <p:sp>
        <p:nvSpPr>
          <p:cNvPr id="16" name="_h1">
            <a:extLst>
              <a:ext uri="{FF2B5EF4-FFF2-40B4-BE49-F238E27FC236}">
                <a16:creationId xmlns:a16="http://schemas.microsoft.com/office/drawing/2014/main" id="{4088BEF3-3526-487F-9B39-E43D6EE7CC3A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7498023" y="432969"/>
            <a:ext cx="2635192" cy="69273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CH" b="1" u="sng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Our</a:t>
            </a:r>
            <a:r>
              <a:rPr lang="de-CH" b="1" u="sng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Solution</a:t>
            </a:r>
            <a:endParaRPr lang="en-US" b="1" u="sng" dirty="0">
              <a:solidFill>
                <a:schemeClr val="accent1">
                  <a:lumMod val="50000"/>
                </a:schemeClr>
              </a:solidFill>
              <a:latin typeface="+mn-lt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052EB14-B37A-460A-93E0-977D32730CFC}"/>
              </a:ext>
            </a:extLst>
          </p:cNvPr>
          <p:cNvCxnSpPr/>
          <p:nvPr/>
        </p:nvCxnSpPr>
        <p:spPr>
          <a:xfrm flipV="1">
            <a:off x="7165572" y="581057"/>
            <a:ext cx="0" cy="5899149"/>
          </a:xfrm>
          <a:prstGeom prst="line">
            <a:avLst/>
          </a:prstGeom>
          <a:ln w="76200"/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CDC6B0BC-279B-4079-8398-C7ECE617E501}"/>
              </a:ext>
            </a:extLst>
          </p:cNvPr>
          <p:cNvSpPr/>
          <p:nvPr/>
        </p:nvSpPr>
        <p:spPr>
          <a:xfrm>
            <a:off x="651963" y="908050"/>
            <a:ext cx="5515921" cy="92333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de-CH" dirty="0">
                <a:solidFill>
                  <a:srgbClr val="000000"/>
                </a:solidFill>
                <a:latin typeface="Calibri "/>
                <a:cs typeface="Arial" charset="0"/>
              </a:rPr>
              <a:t>Damage </a:t>
            </a:r>
            <a:r>
              <a:rPr lang="de-CH" dirty="0" err="1">
                <a:solidFill>
                  <a:srgbClr val="000000"/>
                </a:solidFill>
                <a:latin typeface="Calibri "/>
                <a:cs typeface="Arial" charset="0"/>
              </a:rPr>
              <a:t>of</a:t>
            </a:r>
            <a:r>
              <a:rPr lang="de-CH" dirty="0">
                <a:solidFill>
                  <a:srgbClr val="000000"/>
                </a:solidFill>
                <a:latin typeface="Calibri "/>
                <a:cs typeface="Arial" charset="0"/>
              </a:rPr>
              <a:t> </a:t>
            </a:r>
            <a:r>
              <a:rPr lang="de-CH" dirty="0" err="1">
                <a:solidFill>
                  <a:srgbClr val="000000"/>
                </a:solidFill>
                <a:latin typeface="Calibri "/>
                <a:cs typeface="Arial" charset="0"/>
              </a:rPr>
              <a:t>the</a:t>
            </a:r>
            <a:r>
              <a:rPr lang="de-CH" dirty="0">
                <a:solidFill>
                  <a:srgbClr val="000000"/>
                </a:solidFill>
                <a:latin typeface="Calibri "/>
                <a:cs typeface="Arial" charset="0"/>
              </a:rPr>
              <a:t> </a:t>
            </a:r>
            <a:r>
              <a:rPr lang="de-CH" dirty="0" err="1">
                <a:solidFill>
                  <a:srgbClr val="000000"/>
                </a:solidFill>
                <a:latin typeface="Calibri "/>
                <a:cs typeface="Arial" charset="0"/>
              </a:rPr>
              <a:t>weak</a:t>
            </a:r>
            <a:r>
              <a:rPr lang="de-CH" dirty="0">
                <a:solidFill>
                  <a:srgbClr val="000000"/>
                </a:solidFill>
                <a:latin typeface="Calibri "/>
                <a:cs typeface="Arial" charset="0"/>
              </a:rPr>
              <a:t> Keys on Take-Out Arm </a:t>
            </a:r>
            <a:r>
              <a:rPr lang="de-CH" dirty="0" err="1">
                <a:solidFill>
                  <a:srgbClr val="000000"/>
                </a:solidFill>
                <a:latin typeface="Calibri "/>
                <a:cs typeface="Arial" charset="0"/>
              </a:rPr>
              <a:t>cause</a:t>
            </a:r>
            <a:r>
              <a:rPr lang="de-CH" dirty="0">
                <a:solidFill>
                  <a:srgbClr val="000000"/>
                </a:solidFill>
                <a:latin typeface="Calibri "/>
                <a:cs typeface="Arial" charset="0"/>
              </a:rPr>
              <a:t> </a:t>
            </a:r>
            <a:r>
              <a:rPr lang="de-CH" dirty="0" err="1">
                <a:solidFill>
                  <a:srgbClr val="000000"/>
                </a:solidFill>
                <a:latin typeface="Calibri "/>
                <a:cs typeface="Arial" charset="0"/>
              </a:rPr>
              <a:t>backlash</a:t>
            </a:r>
            <a:r>
              <a:rPr lang="de-CH" dirty="0">
                <a:solidFill>
                  <a:srgbClr val="000000"/>
                </a:solidFill>
                <a:latin typeface="Calibri "/>
                <a:cs typeface="Arial" charset="0"/>
              </a:rPr>
              <a:t> </a:t>
            </a:r>
            <a:r>
              <a:rPr lang="de-CH" dirty="0" err="1">
                <a:solidFill>
                  <a:srgbClr val="000000"/>
                </a:solidFill>
                <a:latin typeface="Calibri "/>
                <a:cs typeface="Arial" charset="0"/>
              </a:rPr>
              <a:t>between</a:t>
            </a:r>
            <a:r>
              <a:rPr lang="de-CH" dirty="0">
                <a:solidFill>
                  <a:srgbClr val="000000"/>
                </a:solidFill>
                <a:latin typeface="Calibri "/>
                <a:cs typeface="Arial" charset="0"/>
              </a:rPr>
              <a:t> </a:t>
            </a:r>
            <a:r>
              <a:rPr lang="de-CH" dirty="0" err="1">
                <a:solidFill>
                  <a:srgbClr val="000000"/>
                </a:solidFill>
                <a:latin typeface="Calibri "/>
                <a:cs typeface="Arial" charset="0"/>
              </a:rPr>
              <a:t>Keyways</a:t>
            </a:r>
            <a:r>
              <a:rPr lang="de-CH" dirty="0">
                <a:solidFill>
                  <a:srgbClr val="000000"/>
                </a:solidFill>
                <a:latin typeface="Calibri "/>
                <a:cs typeface="Arial" charset="0"/>
              </a:rPr>
              <a:t> on </a:t>
            </a:r>
            <a:r>
              <a:rPr lang="de-CH" dirty="0" err="1">
                <a:solidFill>
                  <a:srgbClr val="000000"/>
                </a:solidFill>
                <a:latin typeface="Calibri "/>
                <a:cs typeface="Arial" charset="0"/>
              </a:rPr>
              <a:t>output</a:t>
            </a:r>
            <a:r>
              <a:rPr lang="de-CH" dirty="0">
                <a:solidFill>
                  <a:srgbClr val="000000"/>
                </a:solidFill>
                <a:latin typeface="Calibri "/>
                <a:cs typeface="Arial" charset="0"/>
              </a:rPr>
              <a:t> hub and </a:t>
            </a:r>
            <a:r>
              <a:rPr lang="de-CH" dirty="0" err="1">
                <a:solidFill>
                  <a:srgbClr val="000000"/>
                </a:solidFill>
                <a:latin typeface="Calibri "/>
                <a:cs typeface="Arial" charset="0"/>
              </a:rPr>
              <a:t>keys</a:t>
            </a:r>
            <a:r>
              <a:rPr lang="de-CH" dirty="0">
                <a:solidFill>
                  <a:srgbClr val="000000"/>
                </a:solidFill>
                <a:latin typeface="Calibri "/>
                <a:cs typeface="Arial" charset="0"/>
              </a:rPr>
              <a:t> on Take-Out Arm. This </a:t>
            </a:r>
            <a:r>
              <a:rPr lang="de-CH" dirty="0" err="1">
                <a:solidFill>
                  <a:srgbClr val="000000"/>
                </a:solidFill>
                <a:latin typeface="Calibri "/>
                <a:cs typeface="Arial" charset="0"/>
              </a:rPr>
              <a:t>cause</a:t>
            </a:r>
            <a:r>
              <a:rPr lang="de-CH" dirty="0">
                <a:solidFill>
                  <a:srgbClr val="000000"/>
                </a:solidFill>
                <a:latin typeface="Calibri "/>
                <a:cs typeface="Arial" charset="0"/>
              </a:rPr>
              <a:t> </a:t>
            </a:r>
            <a:r>
              <a:rPr lang="de-CH" dirty="0" err="1">
                <a:solidFill>
                  <a:srgbClr val="000000"/>
                </a:solidFill>
                <a:latin typeface="Calibri "/>
                <a:cs typeface="Arial" charset="0"/>
              </a:rPr>
              <a:t>damage</a:t>
            </a:r>
            <a:r>
              <a:rPr lang="de-CH" dirty="0">
                <a:solidFill>
                  <a:srgbClr val="000000"/>
                </a:solidFill>
                <a:latin typeface="Calibri "/>
                <a:cs typeface="Arial" charset="0"/>
              </a:rPr>
              <a:t> </a:t>
            </a:r>
            <a:r>
              <a:rPr lang="de-CH" dirty="0" err="1">
                <a:solidFill>
                  <a:srgbClr val="000000"/>
                </a:solidFill>
                <a:latin typeface="Calibri "/>
                <a:cs typeface="Arial" charset="0"/>
              </a:rPr>
              <a:t>of</a:t>
            </a:r>
            <a:r>
              <a:rPr lang="de-CH" dirty="0">
                <a:solidFill>
                  <a:srgbClr val="000000"/>
                </a:solidFill>
                <a:latin typeface="Calibri "/>
                <a:cs typeface="Arial" charset="0"/>
              </a:rPr>
              <a:t> </a:t>
            </a:r>
            <a:r>
              <a:rPr lang="de-CH" dirty="0" err="1">
                <a:solidFill>
                  <a:srgbClr val="000000"/>
                </a:solidFill>
                <a:latin typeface="Calibri "/>
                <a:cs typeface="Arial" charset="0"/>
              </a:rPr>
              <a:t>Gearbox</a:t>
            </a:r>
            <a:endParaRPr lang="en-CA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C340EE41-693F-47A0-B5C1-34FF1CE702A8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0457" y="3612877"/>
            <a:ext cx="3823107" cy="2867330"/>
          </a:xfrm>
          <a:prstGeom prst="rect">
            <a:avLst/>
          </a:prstGeom>
        </p:spPr>
      </p:pic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609BAD7-2CB6-49A5-9147-869AC6B7A4EE}"/>
              </a:ext>
            </a:extLst>
          </p:cNvPr>
          <p:cNvCxnSpPr>
            <a:cxnSpLocks/>
          </p:cNvCxnSpPr>
          <p:nvPr/>
        </p:nvCxnSpPr>
        <p:spPr>
          <a:xfrm flipH="1">
            <a:off x="5414247" y="3359559"/>
            <a:ext cx="1036428" cy="1555945"/>
          </a:xfrm>
          <a:prstGeom prst="straightConnector1">
            <a:avLst/>
          </a:prstGeom>
          <a:ln w="127000" cmpd="sng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0904181B-602A-4392-A8F8-DE1A368AF65D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9991" y="1256350"/>
            <a:ext cx="2556508" cy="2103209"/>
          </a:xfrm>
          <a:prstGeom prst="rect">
            <a:avLst/>
          </a:prstGeom>
        </p:spPr>
      </p:pic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37123A3B-4ACE-4C79-8EC3-733CBC144A27}"/>
              </a:ext>
            </a:extLst>
          </p:cNvPr>
          <p:cNvCxnSpPr>
            <a:cxnSpLocks/>
          </p:cNvCxnSpPr>
          <p:nvPr/>
        </p:nvCxnSpPr>
        <p:spPr>
          <a:xfrm flipH="1" flipV="1">
            <a:off x="8237914" y="1554481"/>
            <a:ext cx="1440765" cy="862083"/>
          </a:xfrm>
          <a:prstGeom prst="straightConnector1">
            <a:avLst/>
          </a:prstGeom>
          <a:ln w="127000" cmpd="sng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03C3EC5B-F7A9-4079-B642-9789FEF0EF2B}"/>
              </a:ext>
            </a:extLst>
          </p:cNvPr>
          <p:cNvCxnSpPr>
            <a:cxnSpLocks/>
          </p:cNvCxnSpPr>
          <p:nvPr/>
        </p:nvCxnSpPr>
        <p:spPr>
          <a:xfrm flipH="1" flipV="1">
            <a:off x="8163260" y="3181835"/>
            <a:ext cx="1440765" cy="862083"/>
          </a:xfrm>
          <a:prstGeom prst="straightConnector1">
            <a:avLst/>
          </a:prstGeom>
          <a:ln w="127000" cmpd="sng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357120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4F164-3A46-4CEE-A25C-CA523D5E42F3}" type="slidenum">
              <a:rPr lang="en-US" smtClean="0"/>
              <a:t>3</a:t>
            </a:fld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7062203" y="845066"/>
            <a:ext cx="4259372" cy="127727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Calibri "/>
                <a:cs typeface="Arial" charset="0"/>
              </a:rPr>
              <a:t>The repaired gearbox has the exact Take Out arm position as with a new gearbox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Shaft of the ISE Take-Out Arm has no contact with the Gearbox housing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93138A6-C190-49C8-8DBF-A5D04A44E82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799" y="2793076"/>
            <a:ext cx="3084771" cy="3197514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6E5ADE9-0FB7-4431-8107-436DCEB5A458}"/>
              </a:ext>
            </a:extLst>
          </p:cNvPr>
          <p:cNvCxnSpPr>
            <a:cxnSpLocks/>
          </p:cNvCxnSpPr>
          <p:nvPr/>
        </p:nvCxnSpPr>
        <p:spPr>
          <a:xfrm flipH="1" flipV="1">
            <a:off x="2057551" y="4566332"/>
            <a:ext cx="915704" cy="1636129"/>
          </a:xfrm>
          <a:prstGeom prst="straightConnector1">
            <a:avLst/>
          </a:prstGeom>
          <a:ln w="127000" cmpd="sng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Picture 16">
            <a:extLst>
              <a:ext uri="{FF2B5EF4-FFF2-40B4-BE49-F238E27FC236}">
                <a16:creationId xmlns:a16="http://schemas.microsoft.com/office/drawing/2014/main" id="{A6D96BCD-22BA-41B3-862A-3993BF12E63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4581" y="3865418"/>
            <a:ext cx="2833562" cy="2125172"/>
          </a:xfrm>
          <a:prstGeom prst="rect">
            <a:avLst/>
          </a:prstGeom>
        </p:spPr>
      </p:pic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14D99DD-46B8-4DD6-BB35-573550B7CAB3}"/>
              </a:ext>
            </a:extLst>
          </p:cNvPr>
          <p:cNvCxnSpPr>
            <a:cxnSpLocks/>
          </p:cNvCxnSpPr>
          <p:nvPr/>
        </p:nvCxnSpPr>
        <p:spPr>
          <a:xfrm flipH="1">
            <a:off x="5142322" y="3438240"/>
            <a:ext cx="830327" cy="1224410"/>
          </a:xfrm>
          <a:prstGeom prst="straightConnector1">
            <a:avLst/>
          </a:prstGeom>
          <a:ln w="127000" cmpd="sng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" name="Picture 24">
            <a:extLst>
              <a:ext uri="{FF2B5EF4-FFF2-40B4-BE49-F238E27FC236}">
                <a16:creationId xmlns:a16="http://schemas.microsoft.com/office/drawing/2014/main" id="{3DC02239-0F9A-46DD-A3E2-D4E53D7F71E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0216" y="4221999"/>
            <a:ext cx="2578378" cy="193378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E82AE0B-1F31-46E8-A623-96E85274CAC2}"/>
              </a:ext>
            </a:extLst>
          </p:cNvPr>
          <p:cNvSpPr txBox="1"/>
          <p:nvPr/>
        </p:nvSpPr>
        <p:spPr>
          <a:xfrm>
            <a:off x="383176" y="6048573"/>
            <a:ext cx="24434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1400" dirty="0">
                <a:solidFill>
                  <a:srgbClr val="FF0000"/>
                </a:solidFill>
              </a:rPr>
              <a:t>WEAR ON GEARBOX HOUSING</a:t>
            </a:r>
            <a:endParaRPr lang="en-US" sz="1100" dirty="0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7CC8D5B-A7F9-4A27-A2F6-5C6DE9EB7EAA}"/>
              </a:ext>
            </a:extLst>
          </p:cNvPr>
          <p:cNvSpPr txBox="1"/>
          <p:nvPr/>
        </p:nvSpPr>
        <p:spPr>
          <a:xfrm>
            <a:off x="7845016" y="6160495"/>
            <a:ext cx="24853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1400" dirty="0">
                <a:solidFill>
                  <a:srgbClr val="FF0000"/>
                </a:solidFill>
              </a:rPr>
              <a:t>REPAIRED GEARBOX HOUSING</a:t>
            </a:r>
            <a:endParaRPr lang="en-US" sz="1100" dirty="0">
              <a:solidFill>
                <a:srgbClr val="FF0000"/>
              </a:solidFill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FB3328E-98C8-4D81-A795-0E66BB6B1BA9}"/>
              </a:ext>
            </a:extLst>
          </p:cNvPr>
          <p:cNvCxnSpPr>
            <a:cxnSpLocks/>
          </p:cNvCxnSpPr>
          <p:nvPr/>
        </p:nvCxnSpPr>
        <p:spPr>
          <a:xfrm flipH="1">
            <a:off x="8667463" y="4391833"/>
            <a:ext cx="1321664" cy="705615"/>
          </a:xfrm>
          <a:prstGeom prst="straightConnector1">
            <a:avLst/>
          </a:prstGeom>
          <a:ln w="127000" cmpd="sng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_h1">
            <a:extLst>
              <a:ext uri="{FF2B5EF4-FFF2-40B4-BE49-F238E27FC236}">
                <a16:creationId xmlns:a16="http://schemas.microsoft.com/office/drawing/2014/main" id="{C6558A01-B036-4CB9-9406-29A962710D7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gray">
          <a:xfrm>
            <a:off x="587375" y="215318"/>
            <a:ext cx="1673687" cy="692732"/>
          </a:xfrm>
        </p:spPr>
        <p:txBody>
          <a:bodyPr>
            <a:noAutofit/>
          </a:bodyPr>
          <a:lstStyle/>
          <a:p>
            <a:r>
              <a:rPr lang="de-CH" b="1" u="sng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P</a:t>
            </a:r>
            <a:r>
              <a:rPr lang="en-US" b="1" u="sng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roblem</a:t>
            </a:r>
            <a:endParaRPr lang="en-US" b="1" u="sng" dirty="0">
              <a:solidFill>
                <a:schemeClr val="accent1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20" name="_h1">
            <a:extLst>
              <a:ext uri="{FF2B5EF4-FFF2-40B4-BE49-F238E27FC236}">
                <a16:creationId xmlns:a16="http://schemas.microsoft.com/office/drawing/2014/main" id="{C23C4033-97B1-41A9-9554-9A8209593104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7464830" y="297395"/>
            <a:ext cx="2635192" cy="69273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CH" b="1" u="sng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Our</a:t>
            </a:r>
            <a:r>
              <a:rPr lang="de-CH" b="1" u="sng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Solution</a:t>
            </a:r>
            <a:endParaRPr lang="en-US" b="1" u="sng" dirty="0">
              <a:solidFill>
                <a:schemeClr val="accent1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64BA903-6C36-4482-826A-0A46065D20E2}"/>
              </a:ext>
            </a:extLst>
          </p:cNvPr>
          <p:cNvSpPr txBox="1"/>
          <p:nvPr/>
        </p:nvSpPr>
        <p:spPr>
          <a:xfrm>
            <a:off x="3676185" y="6048572"/>
            <a:ext cx="26351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1400" dirty="0">
                <a:solidFill>
                  <a:srgbClr val="FF0000"/>
                </a:solidFill>
              </a:rPr>
              <a:t>WEAR ON FLANGE OF TAKE-OUT ARM SHAFT</a:t>
            </a:r>
            <a:endParaRPr lang="en-US" sz="1100" dirty="0">
              <a:solidFill>
                <a:srgbClr val="FF0000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C40EC3E-5A97-43D7-A476-B1DAEB827B6C}"/>
              </a:ext>
            </a:extLst>
          </p:cNvPr>
          <p:cNvSpPr/>
          <p:nvPr/>
        </p:nvSpPr>
        <p:spPr>
          <a:xfrm>
            <a:off x="472746" y="845066"/>
            <a:ext cx="4080641" cy="183127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Calibri "/>
                <a:cs typeface="Arial" charset="0"/>
              </a:rPr>
              <a:t>The position of the End-Stop of the Take-Out arm on the Gearbox housing varies on each section.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Calibri "/>
                <a:cs typeface="Arial" charset="0"/>
              </a:rPr>
              <a:t>The position depends on the wear of the Gearbox housing and the wear on the Take-Out arm shaft.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9A335A51-B54A-48C7-9F40-90B42AFEF38A}"/>
              </a:ext>
            </a:extLst>
          </p:cNvPr>
          <p:cNvCxnSpPr/>
          <p:nvPr/>
        </p:nvCxnSpPr>
        <p:spPr>
          <a:xfrm flipV="1">
            <a:off x="6758247" y="411033"/>
            <a:ext cx="0" cy="5899149"/>
          </a:xfrm>
          <a:prstGeom prst="line">
            <a:avLst/>
          </a:prstGeom>
          <a:ln w="76200"/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pic>
        <p:nvPicPr>
          <p:cNvPr id="34" name="Picture 33">
            <a:extLst>
              <a:ext uri="{FF2B5EF4-FFF2-40B4-BE49-F238E27FC236}">
                <a16:creationId xmlns:a16="http://schemas.microsoft.com/office/drawing/2014/main" id="{A1270353-9E30-4E11-8703-6636CEFCC8C1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8529" y="2190288"/>
            <a:ext cx="2758753" cy="1933783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216DA564-93D3-4203-AF3A-9FBCC49CB260}"/>
              </a:ext>
            </a:extLst>
          </p:cNvPr>
          <p:cNvSpPr txBox="1"/>
          <p:nvPr/>
        </p:nvSpPr>
        <p:spPr>
          <a:xfrm>
            <a:off x="10041044" y="4308457"/>
            <a:ext cx="11652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1400" dirty="0">
                <a:solidFill>
                  <a:srgbClr val="FF0000"/>
                </a:solidFill>
              </a:rPr>
              <a:t>RING INSERT</a:t>
            </a:r>
            <a:endParaRPr lang="en-US" sz="1100" dirty="0">
              <a:solidFill>
                <a:srgbClr val="FF0000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CEB7A15-849A-4D4A-8A37-BCE6CE3C4229}"/>
              </a:ext>
            </a:extLst>
          </p:cNvPr>
          <p:cNvSpPr txBox="1"/>
          <p:nvPr/>
        </p:nvSpPr>
        <p:spPr>
          <a:xfrm>
            <a:off x="10061730" y="2953788"/>
            <a:ext cx="21302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1400" dirty="0">
                <a:solidFill>
                  <a:srgbClr val="FF0000"/>
                </a:solidFill>
              </a:rPr>
              <a:t>NO FLANGE, NO CONTACT WITH GEARBOX HOUSING</a:t>
            </a:r>
            <a:endParaRPr lang="en-US" sz="1100" dirty="0">
              <a:solidFill>
                <a:srgbClr val="FF0000"/>
              </a:solidFill>
            </a:endParaRP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F5241768-FB12-4CFF-AFA5-B2B1D9BAD559}"/>
              </a:ext>
            </a:extLst>
          </p:cNvPr>
          <p:cNvCxnSpPr>
            <a:cxnSpLocks/>
          </p:cNvCxnSpPr>
          <p:nvPr/>
        </p:nvCxnSpPr>
        <p:spPr>
          <a:xfrm flipH="1">
            <a:off x="9254568" y="2660073"/>
            <a:ext cx="1369097" cy="677595"/>
          </a:xfrm>
          <a:prstGeom prst="straightConnector1">
            <a:avLst/>
          </a:prstGeom>
          <a:ln w="127000" cmpd="sng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561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4F164-3A46-4CEE-A25C-CA523D5E42F3}" type="slidenum">
              <a:rPr lang="en-US" smtClean="0"/>
              <a:t>4</a:t>
            </a:fld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7538638" y="5435380"/>
            <a:ext cx="4080641" cy="64633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/>
            </a:pPr>
            <a:r>
              <a:rPr lang="en-CA" sz="1800" b="0" noProof="0" dirty="0">
                <a:solidFill>
                  <a:schemeClr val="tx1"/>
                </a:solidFill>
                <a:latin typeface="Calibri" panose="020F0502020204030204" pitchFamily="34" charset="0"/>
                <a:ea typeface="Coupe-Medium"/>
                <a:cs typeface="Coupe-Medium"/>
                <a:sym typeface="Coupe-Medium"/>
              </a:rPr>
              <a:t>New front cover with extra strong end stops</a:t>
            </a:r>
            <a:endParaRPr lang="en-US" sz="1800" b="0" dirty="0">
              <a:solidFill>
                <a:schemeClr val="tx1"/>
              </a:solidFill>
              <a:latin typeface="+mn-lt"/>
              <a:ea typeface="Coupe-Medium"/>
              <a:cs typeface="Coupe-Medium"/>
              <a:sym typeface="Coupe-Medium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6143F00-D33C-4089-B5F6-7E996244CB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9089" y="1133565"/>
            <a:ext cx="3443599" cy="366441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02FE067-E9F5-49DC-A3B3-8A54379886E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502" y="2272409"/>
            <a:ext cx="2837469" cy="3196634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E038EC0-5312-48D1-9746-F24BFE4D80C8}"/>
              </a:ext>
            </a:extLst>
          </p:cNvPr>
          <p:cNvCxnSpPr>
            <a:cxnSpLocks/>
          </p:cNvCxnSpPr>
          <p:nvPr/>
        </p:nvCxnSpPr>
        <p:spPr>
          <a:xfrm flipH="1" flipV="1">
            <a:off x="9639214" y="2725760"/>
            <a:ext cx="1790786" cy="240014"/>
          </a:xfrm>
          <a:prstGeom prst="straightConnector1">
            <a:avLst/>
          </a:prstGeom>
          <a:ln w="127000" cmpd="sng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81AC58E-4EF3-4E6E-8AD4-22A11F38C3E1}"/>
              </a:ext>
            </a:extLst>
          </p:cNvPr>
          <p:cNvCxnSpPr>
            <a:cxnSpLocks/>
          </p:cNvCxnSpPr>
          <p:nvPr/>
        </p:nvCxnSpPr>
        <p:spPr>
          <a:xfrm>
            <a:off x="784033" y="2151280"/>
            <a:ext cx="734184" cy="1355722"/>
          </a:xfrm>
          <a:prstGeom prst="straightConnector1">
            <a:avLst/>
          </a:prstGeom>
          <a:ln w="127000" cmpd="sng">
            <a:solidFill>
              <a:srgbClr val="FF0000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_h1">
            <a:extLst>
              <a:ext uri="{FF2B5EF4-FFF2-40B4-BE49-F238E27FC236}">
                <a16:creationId xmlns:a16="http://schemas.microsoft.com/office/drawing/2014/main" id="{6CF2CED8-A6B7-4F89-8CBF-DB098474673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gray">
          <a:xfrm>
            <a:off x="587375" y="215318"/>
            <a:ext cx="1673687" cy="692732"/>
          </a:xfrm>
        </p:spPr>
        <p:txBody>
          <a:bodyPr>
            <a:noAutofit/>
          </a:bodyPr>
          <a:lstStyle/>
          <a:p>
            <a:r>
              <a:rPr lang="de-CH" b="1" u="sng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P</a:t>
            </a:r>
            <a:r>
              <a:rPr lang="en-US" b="1" u="sng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roblem</a:t>
            </a:r>
            <a:endParaRPr lang="en-US" b="1" u="sng" dirty="0">
              <a:solidFill>
                <a:schemeClr val="accent1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16" name="_h1">
            <a:extLst>
              <a:ext uri="{FF2B5EF4-FFF2-40B4-BE49-F238E27FC236}">
                <a16:creationId xmlns:a16="http://schemas.microsoft.com/office/drawing/2014/main" id="{34121918-F10D-4FE6-8672-978C70B7D982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7464830" y="297395"/>
            <a:ext cx="2635192" cy="69273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CH" b="1" u="sng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Our</a:t>
            </a:r>
            <a:r>
              <a:rPr lang="de-CH" b="1" u="sng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Solution</a:t>
            </a:r>
            <a:endParaRPr lang="en-US" b="1" u="sng" dirty="0">
              <a:solidFill>
                <a:schemeClr val="accent1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4E7958C-71AB-4C8F-8BB8-54767CF3C2F9}"/>
              </a:ext>
            </a:extLst>
          </p:cNvPr>
          <p:cNvSpPr/>
          <p:nvPr/>
        </p:nvSpPr>
        <p:spPr>
          <a:xfrm>
            <a:off x="587375" y="990127"/>
            <a:ext cx="3552363" cy="92333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/>
            </a:pPr>
            <a:r>
              <a:rPr lang="en-CA" dirty="0">
                <a:latin typeface="Calibri" panose="020F0502020204030204" pitchFamily="34" charset="0"/>
                <a:ea typeface="Coupe-Medium"/>
                <a:cs typeface="Coupe-Medium"/>
                <a:sym typeface="Coupe-Medium"/>
              </a:rPr>
              <a:t>End Stop on Gearbox brakes when Take-Out Arm runs with high speed against End Stop.</a:t>
            </a:r>
            <a:endParaRPr lang="en-US" sz="1800" b="0" dirty="0">
              <a:solidFill>
                <a:schemeClr val="tx1"/>
              </a:solidFill>
              <a:latin typeface="+mn-lt"/>
              <a:ea typeface="Coupe-Medium"/>
              <a:cs typeface="Coupe-Medium"/>
              <a:sym typeface="Coupe-Medium"/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55E8C6F-242A-4584-A743-D14EBFBE7B40}"/>
              </a:ext>
            </a:extLst>
          </p:cNvPr>
          <p:cNvCxnSpPr/>
          <p:nvPr/>
        </p:nvCxnSpPr>
        <p:spPr>
          <a:xfrm flipV="1">
            <a:off x="6816437" y="639763"/>
            <a:ext cx="0" cy="5899149"/>
          </a:xfrm>
          <a:prstGeom prst="line">
            <a:avLst/>
          </a:prstGeom>
          <a:ln w="76200"/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70426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HDOfficeLightV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e4f8eecc-7f52-479e-bd25-466b8dcdc923" xsi:nil="true"/>
    <lcf76f155ced4ddcb4097134ff3c332f xmlns="2f247c82-f3e5-451d-ba58-fd7800194a70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083932A2436D747AEB0712EA23D1621" ma:contentTypeVersion="19" ma:contentTypeDescription="Create a new document." ma:contentTypeScope="" ma:versionID="dabd93ccb52d5c9e667df6da25d01582">
  <xsd:schema xmlns:xsd="http://www.w3.org/2001/XMLSchema" xmlns:xs="http://www.w3.org/2001/XMLSchema" xmlns:p="http://schemas.microsoft.com/office/2006/metadata/properties" xmlns:ns2="2f247c82-f3e5-451d-ba58-fd7800194a70" xmlns:ns3="e4f8eecc-7f52-479e-bd25-466b8dcdc923" targetNamespace="http://schemas.microsoft.com/office/2006/metadata/properties" ma:root="true" ma:fieldsID="61ac9a79680b668815799cdb5cdec152" ns2:_="" ns3:_="">
    <xsd:import namespace="2f247c82-f3e5-451d-ba58-fd7800194a70"/>
    <xsd:import namespace="e4f8eecc-7f52-479e-bd25-466b8dcdc92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Location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f247c82-f3e5-451d-ba58-fd7800194a7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73b9b5dc-969d-4fa8-b040-532ffd648e7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4f8eecc-7f52-479e-bd25-466b8dcdc923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4e26ac81-ba88-4fea-9b0a-7693e8b66dca}" ma:internalName="TaxCatchAll" ma:showField="CatchAllData" ma:web="e4f8eecc-7f52-479e-bd25-466b8dcdc92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09879EA-2640-4BAC-BE2F-4F569E2AC65C}">
  <ds:schemaRefs>
    <ds:schemaRef ds:uri="http://schemas.microsoft.com/office/2006/metadata/properties"/>
    <ds:schemaRef ds:uri="http://purl.org/dc/terms/"/>
    <ds:schemaRef ds:uri="http://purl.org/dc/elements/1.1/"/>
    <ds:schemaRef ds:uri="http://schemas.microsoft.com/office/2006/documentManagement/types"/>
    <ds:schemaRef ds:uri="http://schemas.microsoft.com/office/infopath/2007/PartnerControls"/>
    <ds:schemaRef ds:uri="http://www.w3.org/XML/1998/namespace"/>
    <ds:schemaRef ds:uri="http://purl.org/dc/dcmitype/"/>
    <ds:schemaRef ds:uri="http://schemas.openxmlformats.org/package/2006/metadata/core-properties"/>
    <ds:schemaRef ds:uri="2f247c82-f3e5-451d-ba58-fd7800194a70"/>
  </ds:schemaRefs>
</ds:datastoreItem>
</file>

<file path=customXml/itemProps2.xml><?xml version="1.0" encoding="utf-8"?>
<ds:datastoreItem xmlns:ds="http://schemas.openxmlformats.org/officeDocument/2006/customXml" ds:itemID="{DB5055ED-343D-417B-AAC9-F10005548415}"/>
</file>

<file path=customXml/itemProps3.xml><?xml version="1.0" encoding="utf-8"?>
<ds:datastoreItem xmlns:ds="http://schemas.openxmlformats.org/officeDocument/2006/customXml" ds:itemID="{814F68A1-9B98-4627-95E0-999F8339137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5958</TotalTime>
  <Words>391</Words>
  <Application>Microsoft Office PowerPoint</Application>
  <PresentationFormat>Grand écran</PresentationFormat>
  <Paragraphs>46</Paragraphs>
  <Slides>4</Slides>
  <Notes>4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</vt:i4>
      </vt:variant>
    </vt:vector>
  </HeadingPairs>
  <TitlesOfParts>
    <vt:vector size="10" baseType="lpstr">
      <vt:lpstr>Arial</vt:lpstr>
      <vt:lpstr>Calibri</vt:lpstr>
      <vt:lpstr>Calibri </vt:lpstr>
      <vt:lpstr>Calibri Light</vt:lpstr>
      <vt:lpstr>Wingdings 2</vt:lpstr>
      <vt:lpstr>HDOfficeLightV0</vt:lpstr>
      <vt:lpstr>Take-Out System Features, Compact Version  </vt:lpstr>
      <vt:lpstr>Problem</vt:lpstr>
      <vt:lpstr>Problem</vt:lpstr>
      <vt:lpstr>Problem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Katiana Matzaridou</dc:creator>
  <cp:lastModifiedBy>Mel Ader</cp:lastModifiedBy>
  <cp:revision>552</cp:revision>
  <cp:lastPrinted>2021-03-15T09:35:48Z</cp:lastPrinted>
  <dcterms:created xsi:type="dcterms:W3CDTF">2017-07-13T09:02:35Z</dcterms:created>
  <dcterms:modified xsi:type="dcterms:W3CDTF">2021-03-25T10:03:18Z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0x0101001083932A2436D747AEB0712EA23D1621</vt:lpwstr>
  </property>
  <property fmtid="{D5CDD505-2E9C-101B-9397-08002B2CF9AE}" pid="3" name="MediaServiceImageTags">
    <vt:lpwstr/>
  </property>
</Properties>
</file>